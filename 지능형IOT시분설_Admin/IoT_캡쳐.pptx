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20" r:id="rId2"/>
    <p:sldId id="321" r:id="rId3"/>
    <p:sldId id="323" r:id="rId4"/>
    <p:sldId id="322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BDB6"/>
    <a:srgbClr val="B9DCFF"/>
    <a:srgbClr val="EAE3FD"/>
    <a:srgbClr val="C4E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24" autoAdjust="0"/>
    <p:restoredTop sz="95906" autoAdjust="0"/>
  </p:normalViewPr>
  <p:slideViewPr>
    <p:cSldViewPr snapToGrid="0">
      <p:cViewPr varScale="1">
        <p:scale>
          <a:sx n="105" d="100"/>
          <a:sy n="105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F80B9-C44D-422A-8E99-728091BEF7A2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DC65B-6DAC-4A8B-84FE-09E1B7081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13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Whit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6EDC6F8B-A081-4034-A2E8-DB4590A5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3" y="549276"/>
            <a:ext cx="10272183" cy="434975"/>
          </a:xfrm>
          <a:prstGeom prst="rect">
            <a:avLst/>
          </a:prstGeom>
        </p:spPr>
        <p:txBody>
          <a:bodyPr lIns="0" tIns="0" rIns="0" bIns="0"/>
          <a:lstStyle>
            <a:lvl1pPr>
              <a:defRPr sz="2500" b="1" spc="-60" baseline="0">
                <a:solidFill>
                  <a:srgbClr val="4C4C4E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75E9B8C8-679A-4ACD-AC51-C2B2C142F07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60970" y="1004571"/>
            <a:ext cx="10272183" cy="3253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500" spc="-60" baseline="0">
                <a:solidFill>
                  <a:srgbClr val="4C4C4E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CB99A2F3-0EDC-4D95-9842-2C5F0955C8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549275"/>
            <a:ext cx="425451" cy="435096"/>
          </a:xfrm>
          <a:prstGeom prst="rect">
            <a:avLst/>
          </a:prstGeom>
        </p:spPr>
        <p:txBody>
          <a:bodyPr lIns="0" tIns="18000" rIns="0" bIns="0"/>
          <a:lstStyle>
            <a:lvl1pPr marL="0" indent="0">
              <a:buNone/>
              <a:defRPr sz="1500">
                <a:solidFill>
                  <a:srgbClr val="4C4C4E"/>
                </a:solidFill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15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16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엔딩커버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CD8709C-680D-4B3B-B8AA-600E58D8BABE}"/>
              </a:ext>
            </a:extLst>
          </p:cNvPr>
          <p:cNvSpPr/>
          <p:nvPr userDrawn="1"/>
        </p:nvSpPr>
        <p:spPr>
          <a:xfrm>
            <a:off x="0" y="0"/>
            <a:ext cx="12192000" cy="68576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036" latinLnBrk="0"/>
            <a:r>
              <a:rPr lang="en-US" sz="2398" dirty="0">
                <a:solidFill>
                  <a:srgbClr val="000000"/>
                </a:solidFill>
                <a:latin typeface="AppleGothic"/>
                <a:ea typeface="AppleGothic"/>
                <a:cs typeface="AppleGothic"/>
              </a:rPr>
              <a:t>1_엔딩커버2</a:t>
            </a:r>
            <a:endParaRPr lang="en-US" sz="2398" dirty="0">
              <a:solidFill>
                <a:prstClr val="white"/>
              </a:solidFill>
            </a:endParaRPr>
          </a:p>
        </p:txBody>
      </p:sp>
      <p:pic>
        <p:nvPicPr>
          <p:cNvPr id="6" name="Picture 2" descr="C:\Users\Administrator\Desktop\png\한줄형\한줄형_슬로건강조형_fullcolor(화이트).png">
            <a:extLst>
              <a:ext uri="{FF2B5EF4-FFF2-40B4-BE49-F238E27FC236}">
                <a16:creationId xmlns:a16="http://schemas.microsoft.com/office/drawing/2014/main" id="{F5BFFC1D-08B6-40D0-A1A4-BBAE5C6495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000" y="3298749"/>
            <a:ext cx="4416000" cy="50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709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_White_상단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-1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685"/>
          </a:xfrm>
          <a:prstGeom prst="rect">
            <a:avLst/>
          </a:prstGeom>
        </p:spPr>
      </p:pic>
      <p:sp>
        <p:nvSpPr>
          <p:cNvPr id="4" name="제목 2">
            <a:extLst>
              <a:ext uri="{FF2B5EF4-FFF2-40B4-BE49-F238E27FC236}">
                <a16:creationId xmlns:a16="http://schemas.microsoft.com/office/drawing/2014/main" id="{7C429925-B39D-45BC-B658-20D5C42A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1" y="658387"/>
            <a:ext cx="10272183" cy="54446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931" b="1" spc="-80" baseline="0">
                <a:solidFill>
                  <a:srgbClr val="4C4C4E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내용 개체 틀 6">
            <a:extLst>
              <a:ext uri="{FF2B5EF4-FFF2-40B4-BE49-F238E27FC236}">
                <a16:creationId xmlns:a16="http://schemas.microsoft.com/office/drawing/2014/main" id="{19A3D46A-9087-41B3-8F2F-ECCEFAA088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60969" y="1202849"/>
            <a:ext cx="10272183" cy="43335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1732" spc="-80" baseline="0">
                <a:solidFill>
                  <a:srgbClr val="4C4C4E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A7827593-FF00-42F3-B265-F7D7EEC624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658387"/>
            <a:ext cx="425451" cy="544462"/>
          </a:xfrm>
          <a:prstGeom prst="rect">
            <a:avLst/>
          </a:prstGeom>
          <a:ln>
            <a:noFill/>
          </a:ln>
        </p:spPr>
        <p:txBody>
          <a:bodyPr lIns="0" tIns="18000" rIns="0" bIns="0"/>
          <a:lstStyle>
            <a:lvl1pPr marL="0" indent="0" algn="l">
              <a:buNone/>
              <a:defRPr sz="1998">
                <a:solidFill>
                  <a:srgbClr val="4C4C4E"/>
                </a:solidFill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7D3DD72-A510-4BD1-82D9-80770A71BFDA}"/>
              </a:ext>
            </a:extLst>
          </p:cNvPr>
          <p:cNvSpPr/>
          <p:nvPr userDrawn="1"/>
        </p:nvSpPr>
        <p:spPr>
          <a:xfrm>
            <a:off x="11505162" y="6200320"/>
            <a:ext cx="323807" cy="2563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036" latinLnBrk="0"/>
            <a:fld id="{88B3AE5A-10BA-4173-8E7E-D8F2BB88D393}" type="slidenum">
              <a:rPr kumimoji="1" lang="en-US" altLang="ko-KR" sz="1066" spc="-80">
                <a:solidFill>
                  <a:srgbClr val="4C4C4E"/>
                </a:solidFill>
                <a:cs typeface="굴림" pitchFamily="50" charset="-127"/>
              </a:rPr>
              <a:pPr algn="ctr" defTabSz="609036" latinLnBrk="0"/>
              <a:t>‹#›</a:t>
            </a:fld>
            <a:endParaRPr lang="en-US" sz="1066" dirty="0">
              <a:solidFill>
                <a:srgbClr val="4C4C4E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E2038A6-5149-4C64-AAED-DFDFFBADF0BF}"/>
              </a:ext>
            </a:extLst>
          </p:cNvPr>
          <p:cNvSpPr/>
          <p:nvPr userDrawn="1"/>
        </p:nvSpPr>
        <p:spPr>
          <a:xfrm>
            <a:off x="578194" y="6200320"/>
            <a:ext cx="4376467" cy="25635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defTabSz="609036" latinLnBrk="0"/>
            <a:r>
              <a:rPr lang="en-US" altLang="ko-KR" sz="1066" dirty="0">
                <a:solidFill>
                  <a:srgbClr val="00C0AA"/>
                </a:solidFill>
                <a:cs typeface="Malgun Gothic"/>
              </a:rPr>
              <a:t>|</a:t>
            </a:r>
            <a:r>
              <a:rPr lang="en-US" altLang="ko-KR" sz="1066" dirty="0">
                <a:solidFill>
                  <a:srgbClr val="4C4C4E"/>
                </a:solidFill>
                <a:cs typeface="Malgun Gothic"/>
              </a:rPr>
              <a:t> KT Laboratory</a:t>
            </a:r>
            <a:endParaRPr lang="ko-KR" altLang="en-US" sz="932" dirty="0">
              <a:solidFill>
                <a:srgbClr val="4C4C4E"/>
              </a:solidFill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3754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42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</p:sldLayoutIdLst>
  <p:txStyles>
    <p:titleStyle>
      <a:lvl1pPr algn="l" defTabSz="91440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0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5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8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2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5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8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22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5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9" indent="-228602" algn="l" defTabSz="91440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FF3EE22-DD4D-4D5F-9029-7F8B62BC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23469"/>
            <a:ext cx="11079121" cy="58110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B55F1DC-F064-4AD2-8713-FAEFCABF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7" y="3806012"/>
            <a:ext cx="10272183" cy="1040308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본 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2000" dirty="0" err="1">
                <a:solidFill>
                  <a:schemeClr val="bg1">
                    <a:lumMod val="95000"/>
                  </a:schemeClr>
                </a:solidFill>
              </a:rPr>
              <a:t>교육콘텐츠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)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는 교육부와 한국연구재단의 지원을 받아 제작하였으며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b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저작권은 </a:t>
            </a:r>
            <a:r>
              <a:rPr lang="ko-KR" altLang="en-US" sz="2000" dirty="0" err="1">
                <a:solidFill>
                  <a:schemeClr val="bg1">
                    <a:lumMod val="95000"/>
                  </a:schemeClr>
                </a:solidFill>
              </a:rPr>
              <a:t>사물인터넷혁신융합대학사업단에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 있습니다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ko-KR" alt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24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D2DA6C1-853E-4729-ABB1-504F1060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995" y="1382201"/>
            <a:ext cx="39048748" cy="138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665458472">
            <a:extLst>
              <a:ext uri="{FF2B5EF4-FFF2-40B4-BE49-F238E27FC236}">
                <a16:creationId xmlns:a16="http://schemas.microsoft.com/office/drawing/2014/main" id="{686FBDD9-5869-4E69-ABC7-87EE4D99D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95" y="720531"/>
            <a:ext cx="10677554" cy="54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56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62602-F936-40B4-9372-494F8CD9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EEB99E-C36E-41EE-A5C7-7E267CCC7D9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8A8CCC-2821-4D1A-8169-CEDBE515B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588834-CCFD-4006-B237-0E5118A6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7" y="347232"/>
            <a:ext cx="11869806" cy="616353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6825E9D9-96EB-4B1F-94C1-B03BEBB8A03F}"/>
              </a:ext>
            </a:extLst>
          </p:cNvPr>
          <p:cNvSpPr txBox="1">
            <a:spLocks/>
          </p:cNvSpPr>
          <p:nvPr/>
        </p:nvSpPr>
        <p:spPr>
          <a:xfrm>
            <a:off x="1111251" y="1747310"/>
            <a:ext cx="10272183" cy="2952705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800" dirty="0">
                <a:solidFill>
                  <a:schemeClr val="bg1">
                    <a:lumMod val="95000"/>
                  </a:schemeClr>
                </a:solidFill>
              </a:rPr>
              <a:t>본 </a:t>
            </a:r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2800" dirty="0" err="1">
                <a:solidFill>
                  <a:schemeClr val="bg1">
                    <a:lumMod val="95000"/>
                  </a:schemeClr>
                </a:solidFill>
              </a:rPr>
              <a:t>교육콘텐츠</a:t>
            </a:r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)</a:t>
            </a:r>
            <a:r>
              <a:rPr lang="ko-KR" altLang="en-US" sz="2800" dirty="0">
                <a:solidFill>
                  <a:schemeClr val="bg1">
                    <a:lumMod val="95000"/>
                  </a:schemeClr>
                </a:solidFill>
              </a:rPr>
              <a:t>는 교육부와 한국연구재단의 지원을 받아 제작하였으며</a:t>
            </a:r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b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ko-KR" altLang="en-US" sz="2800" dirty="0">
                <a:solidFill>
                  <a:schemeClr val="bg1">
                    <a:lumMod val="95000"/>
                  </a:schemeClr>
                </a:solidFill>
              </a:rPr>
              <a:t>저작권은 </a:t>
            </a:r>
            <a:r>
              <a:rPr lang="ko-KR" altLang="en-US" sz="2800" dirty="0" err="1">
                <a:solidFill>
                  <a:schemeClr val="bg1">
                    <a:lumMod val="95000"/>
                  </a:schemeClr>
                </a:solidFill>
              </a:rPr>
              <a:t>사물인터넷혁신융합대학사업단에</a:t>
            </a:r>
            <a:r>
              <a:rPr lang="ko-KR" altLang="en-US" sz="2800" dirty="0">
                <a:solidFill>
                  <a:schemeClr val="bg1">
                    <a:lumMod val="95000"/>
                  </a:schemeClr>
                </a:solidFill>
              </a:rPr>
              <a:t> 있습니다</a:t>
            </a:r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88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D2DA6C1-853E-4729-ABB1-504F1060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995" y="1382201"/>
            <a:ext cx="39048748" cy="138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665458472">
            <a:extLst>
              <a:ext uri="{FF2B5EF4-FFF2-40B4-BE49-F238E27FC236}">
                <a16:creationId xmlns:a16="http://schemas.microsoft.com/office/drawing/2014/main" id="{686FBDD9-5869-4E69-ABC7-87EE4D99D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95" y="720531"/>
            <a:ext cx="10677554" cy="54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76000C9-C1EE-4475-91B2-62F36CF8A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5746" y="2766420"/>
            <a:ext cx="9116290" cy="168552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F0B0CD0-0F85-431A-B9C8-2EF7976AA6E6}"/>
              </a:ext>
            </a:extLst>
          </p:cNvPr>
          <p:cNvSpPr txBox="1">
            <a:spLocks/>
          </p:cNvSpPr>
          <p:nvPr/>
        </p:nvSpPr>
        <p:spPr>
          <a:xfrm>
            <a:off x="2404341" y="2928636"/>
            <a:ext cx="7921913" cy="1342364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지능형 </a:t>
            </a:r>
            <a:r>
              <a:rPr lang="en-US" altLang="ko-KR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 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분석과 설계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AI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융합개요</a:t>
            </a:r>
          </a:p>
        </p:txBody>
      </p:sp>
    </p:spTree>
    <p:extLst>
      <p:ext uri="{BB962C8B-B14F-4D97-AF65-F5344CB8AC3E}">
        <p14:creationId xmlns:p14="http://schemas.microsoft.com/office/powerpoint/2010/main" val="291329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D2DA6C1-853E-4729-ABB1-504F1060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995" y="1382201"/>
            <a:ext cx="39048748" cy="138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665458472">
            <a:extLst>
              <a:ext uri="{FF2B5EF4-FFF2-40B4-BE49-F238E27FC236}">
                <a16:creationId xmlns:a16="http://schemas.microsoft.com/office/drawing/2014/main" id="{686FBDD9-5869-4E69-ABC7-87EE4D99D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95" y="720531"/>
            <a:ext cx="10677554" cy="54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76000C9-C1EE-4475-91B2-62F36CF8A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5746" y="2766420"/>
            <a:ext cx="9116290" cy="168552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F0B0CD0-0F85-431A-B9C8-2EF7976AA6E6}"/>
              </a:ext>
            </a:extLst>
          </p:cNvPr>
          <p:cNvSpPr txBox="1">
            <a:spLocks/>
          </p:cNvSpPr>
          <p:nvPr/>
        </p:nvSpPr>
        <p:spPr>
          <a:xfrm>
            <a:off x="2404341" y="2928636"/>
            <a:ext cx="7921913" cy="1342364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지능형 </a:t>
            </a:r>
            <a:r>
              <a:rPr lang="en-US" altLang="ko-KR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 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분석과 설계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AI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융합의 필요성</a:t>
            </a:r>
          </a:p>
        </p:txBody>
      </p:sp>
    </p:spTree>
    <p:extLst>
      <p:ext uri="{BB962C8B-B14F-4D97-AF65-F5344CB8AC3E}">
        <p14:creationId xmlns:p14="http://schemas.microsoft.com/office/powerpoint/2010/main" val="376210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D2DA6C1-853E-4729-ABB1-504F1060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995" y="1382201"/>
            <a:ext cx="39048748" cy="138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665458472">
            <a:extLst>
              <a:ext uri="{FF2B5EF4-FFF2-40B4-BE49-F238E27FC236}">
                <a16:creationId xmlns:a16="http://schemas.microsoft.com/office/drawing/2014/main" id="{686FBDD9-5869-4E69-ABC7-87EE4D99D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95" y="720531"/>
            <a:ext cx="10677554" cy="54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76000C9-C1EE-4475-91B2-62F36CF8A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5746" y="2766420"/>
            <a:ext cx="9116290" cy="168552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F0B0CD0-0F85-431A-B9C8-2EF7976AA6E6}"/>
              </a:ext>
            </a:extLst>
          </p:cNvPr>
          <p:cNvSpPr txBox="1">
            <a:spLocks/>
          </p:cNvSpPr>
          <p:nvPr/>
        </p:nvSpPr>
        <p:spPr>
          <a:xfrm>
            <a:off x="2404341" y="2928636"/>
            <a:ext cx="7921913" cy="1342364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지능형 </a:t>
            </a:r>
            <a:r>
              <a:rPr lang="en-US" altLang="ko-KR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 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분석과 설계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 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설계</a:t>
            </a:r>
          </a:p>
        </p:txBody>
      </p:sp>
    </p:spTree>
    <p:extLst>
      <p:ext uri="{BB962C8B-B14F-4D97-AF65-F5344CB8AC3E}">
        <p14:creationId xmlns:p14="http://schemas.microsoft.com/office/powerpoint/2010/main" val="247097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D2DA6C1-853E-4729-ABB1-504F1060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995" y="1382201"/>
            <a:ext cx="39048748" cy="138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665458472">
            <a:extLst>
              <a:ext uri="{FF2B5EF4-FFF2-40B4-BE49-F238E27FC236}">
                <a16:creationId xmlns:a16="http://schemas.microsoft.com/office/drawing/2014/main" id="{686FBDD9-5869-4E69-ABC7-87EE4D99D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95" y="720531"/>
            <a:ext cx="10677554" cy="54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76000C9-C1EE-4475-91B2-62F36CF8A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5746" y="2766420"/>
            <a:ext cx="9116290" cy="168552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F0B0CD0-0F85-431A-B9C8-2EF7976AA6E6}"/>
              </a:ext>
            </a:extLst>
          </p:cNvPr>
          <p:cNvSpPr txBox="1">
            <a:spLocks/>
          </p:cNvSpPr>
          <p:nvPr/>
        </p:nvSpPr>
        <p:spPr>
          <a:xfrm>
            <a:off x="2404341" y="2928636"/>
            <a:ext cx="7921913" cy="1342364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지능형 </a:t>
            </a:r>
            <a:r>
              <a:rPr lang="en-US" altLang="ko-KR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 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분석과 설계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IoT 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응용 시스템 분석</a:t>
            </a:r>
          </a:p>
        </p:txBody>
      </p:sp>
    </p:spTree>
    <p:extLst>
      <p:ext uri="{BB962C8B-B14F-4D97-AF65-F5344CB8AC3E}">
        <p14:creationId xmlns:p14="http://schemas.microsoft.com/office/powerpoint/2010/main" val="97573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45C4B-C394-4679-AAE4-79E485B1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C1C152-D94E-401D-8A92-E65A32A77C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20E817-B8E7-47C0-B422-C1A74E5BAA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D6CDD6-A9C8-4FF1-AEDC-111EA2ACC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142" y="0"/>
            <a:ext cx="42343485" cy="892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595664536">
            <a:extLst>
              <a:ext uri="{FF2B5EF4-FFF2-40B4-BE49-F238E27FC236}">
                <a16:creationId xmlns:a16="http://schemas.microsoft.com/office/drawing/2014/main" id="{23271A48-21D4-4E47-8C1C-C8EE09891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142" y="457201"/>
            <a:ext cx="9791931" cy="603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70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2FA86-1849-445F-9FFC-2D884FA7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4B6-B117-4641-AF08-42F3E87B6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D2640-D2F4-41EF-9FB1-3747DD4CE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34</a:t>
            </a:r>
            <a:r>
              <a:rPr lang="ko-KR" altLang="en-US" dirty="0"/>
              <a:t>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2FA7CB-9206-485D-BE0C-4CF2FADB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13" y="740683"/>
            <a:ext cx="8150691" cy="50356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C5A9DD0-A871-44EA-BD29-F1CB2FCAD8A9}"/>
              </a:ext>
            </a:extLst>
          </p:cNvPr>
          <p:cNvSpPr txBox="1">
            <a:spLocks/>
          </p:cNvSpPr>
          <p:nvPr/>
        </p:nvSpPr>
        <p:spPr>
          <a:xfrm>
            <a:off x="2081445" y="1198690"/>
            <a:ext cx="6577924" cy="999461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001A91-A92D-4536-8A8E-B1DC78CC1116}"/>
              </a:ext>
            </a:extLst>
          </p:cNvPr>
          <p:cNvSpPr txBox="1">
            <a:spLocks/>
          </p:cNvSpPr>
          <p:nvPr/>
        </p:nvSpPr>
        <p:spPr>
          <a:xfrm>
            <a:off x="2017437" y="2631503"/>
            <a:ext cx="6577924" cy="1384903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시스템의 구성 요소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레벨 구조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단일 노드부터 클라우드 협력까지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시스템의 데이터 처리 방식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주요 활용 사례 및 센서 종류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12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2FA86-1849-445F-9FFC-2D884FA7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4B6-B117-4641-AF08-42F3E87B6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D2640-D2F4-41EF-9FB1-3747DD4CE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35</a:t>
            </a:r>
            <a:r>
              <a:rPr lang="ko-KR" altLang="en-US" dirty="0"/>
              <a:t>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2FA7CB-9206-485D-BE0C-4CF2FADB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13" y="740683"/>
            <a:ext cx="8150691" cy="50356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C5A9DD0-A871-44EA-BD29-F1CB2FCAD8A9}"/>
              </a:ext>
            </a:extLst>
          </p:cNvPr>
          <p:cNvSpPr txBox="1">
            <a:spLocks/>
          </p:cNvSpPr>
          <p:nvPr/>
        </p:nvSpPr>
        <p:spPr>
          <a:xfrm>
            <a:off x="2081445" y="1198690"/>
            <a:ext cx="6577924" cy="999461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001A91-A92D-4536-8A8E-B1DC78CC1116}"/>
              </a:ext>
            </a:extLst>
          </p:cNvPr>
          <p:cNvSpPr txBox="1">
            <a:spLocks/>
          </p:cNvSpPr>
          <p:nvPr/>
        </p:nvSpPr>
        <p:spPr>
          <a:xfrm>
            <a:off x="2017437" y="2631503"/>
            <a:ext cx="6577924" cy="1384903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통신 시스템 개요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주요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프로토콜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연결 기술 및 특징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각 프로토콜의 활용 및 비교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93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2FA86-1849-445F-9FFC-2D884FA7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4B6-B117-4641-AF08-42F3E87B6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D2640-D2F4-41EF-9FB1-3747DD4CE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36</a:t>
            </a:r>
            <a:r>
              <a:rPr lang="ko-KR" altLang="en-US" dirty="0"/>
              <a:t>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2FA7CB-9206-485D-BE0C-4CF2FADB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13" y="740683"/>
            <a:ext cx="8150691" cy="50356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C5A9DD0-A871-44EA-BD29-F1CB2FCAD8A9}"/>
              </a:ext>
            </a:extLst>
          </p:cNvPr>
          <p:cNvSpPr txBox="1">
            <a:spLocks/>
          </p:cNvSpPr>
          <p:nvPr/>
        </p:nvSpPr>
        <p:spPr>
          <a:xfrm>
            <a:off x="2081445" y="1198690"/>
            <a:ext cx="6577924" cy="999461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001A91-A92D-4536-8A8E-B1DC78CC1116}"/>
              </a:ext>
            </a:extLst>
          </p:cNvPr>
          <p:cNvSpPr txBox="1">
            <a:spLocks/>
          </p:cNvSpPr>
          <p:nvPr/>
        </p:nvSpPr>
        <p:spPr>
          <a:xfrm>
            <a:off x="2017437" y="2631503"/>
            <a:ext cx="6577924" cy="1384903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Machine-to-Machine(M2M)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연결 기술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SDN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NFV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활용한 네트워크 최적화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에너지 하베스팅과 저전력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LPWAN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5G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요구 사항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44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2FA86-1849-445F-9FFC-2D884FA7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4B6-B117-4641-AF08-42F3E87B6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D2640-D2F4-41EF-9FB1-3747DD4CE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37</a:t>
            </a:r>
            <a:r>
              <a:rPr lang="ko-KR" altLang="en-US" dirty="0"/>
              <a:t>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2FA7CB-9206-485D-BE0C-4CF2FADB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13" y="740683"/>
            <a:ext cx="8150691" cy="50356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C5A9DD0-A871-44EA-BD29-F1CB2FCAD8A9}"/>
              </a:ext>
            </a:extLst>
          </p:cNvPr>
          <p:cNvSpPr txBox="1">
            <a:spLocks/>
          </p:cNvSpPr>
          <p:nvPr/>
        </p:nvSpPr>
        <p:spPr>
          <a:xfrm>
            <a:off x="2081445" y="1198690"/>
            <a:ext cx="6577924" cy="999461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001A91-A92D-4536-8A8E-B1DC78CC1116}"/>
              </a:ext>
            </a:extLst>
          </p:cNvPr>
          <p:cNvSpPr txBox="1">
            <a:spLocks/>
          </p:cNvSpPr>
          <p:nvPr/>
        </p:nvSpPr>
        <p:spPr>
          <a:xfrm>
            <a:off x="2017437" y="2631503"/>
            <a:ext cx="6577924" cy="1384903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통합 시나리오와 데이터 흐름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지향 아키텍처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(SOA)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확장성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주요 프로토콜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MQTT, CoAP, XMPP, AMQP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REST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아키텍처와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Code on Demand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686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2FA86-1849-445F-9FFC-2D884FA7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4B6-B117-4641-AF08-42F3E87B6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D2640-D2F4-41EF-9FB1-3747DD4CE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38</a:t>
            </a:r>
            <a:r>
              <a:rPr lang="ko-KR" altLang="en-US" dirty="0"/>
              <a:t>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2FA7CB-9206-485D-BE0C-4CF2FADB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13" y="740683"/>
            <a:ext cx="8150691" cy="50356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C5A9DD0-A871-44EA-BD29-F1CB2FCAD8A9}"/>
              </a:ext>
            </a:extLst>
          </p:cNvPr>
          <p:cNvSpPr txBox="1">
            <a:spLocks/>
          </p:cNvSpPr>
          <p:nvPr/>
        </p:nvSpPr>
        <p:spPr>
          <a:xfrm>
            <a:off x="2081445" y="1198690"/>
            <a:ext cx="6577924" cy="999461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001A91-A92D-4536-8A8E-B1DC78CC1116}"/>
              </a:ext>
            </a:extLst>
          </p:cNvPr>
          <p:cNvSpPr txBox="1">
            <a:spLocks/>
          </p:cNvSpPr>
          <p:nvPr/>
        </p:nvSpPr>
        <p:spPr>
          <a:xfrm>
            <a:off x="2017437" y="2631503"/>
            <a:ext cx="6577924" cy="1384903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전통적인 컴퓨팅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vs.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분산 컴퓨팅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분산 컴퓨팅의 목표와 과제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그리드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컴퓨팅 개념과 활용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클라우드의 연계 및 가상화 기술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909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2FA86-1849-445F-9FFC-2D884FA7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4B6-B117-4641-AF08-42F3E87B6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D2640-D2F4-41EF-9FB1-3747DD4CE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39</a:t>
            </a:r>
            <a:r>
              <a:rPr lang="ko-KR" altLang="en-US" dirty="0"/>
              <a:t>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2FA7CB-9206-485D-BE0C-4CF2FADB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13" y="740683"/>
            <a:ext cx="8150691" cy="50356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C5A9DD0-A871-44EA-BD29-F1CB2FCAD8A9}"/>
              </a:ext>
            </a:extLst>
          </p:cNvPr>
          <p:cNvSpPr txBox="1">
            <a:spLocks/>
          </p:cNvSpPr>
          <p:nvPr/>
        </p:nvSpPr>
        <p:spPr>
          <a:xfrm>
            <a:off x="2081445" y="1198690"/>
            <a:ext cx="6577924" cy="999461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  <a:endParaRPr lang="en-US" altLang="ko-KR" sz="3600" dirty="0">
              <a:solidFill>
                <a:schemeClr val="bg1">
                  <a:lumMod val="9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001A91-A92D-4536-8A8E-B1DC78CC1116}"/>
              </a:ext>
            </a:extLst>
          </p:cNvPr>
          <p:cNvSpPr txBox="1">
            <a:spLocks/>
          </p:cNvSpPr>
          <p:nvPr/>
        </p:nvSpPr>
        <p:spPr>
          <a:xfrm>
            <a:off x="2017437" y="2631503"/>
            <a:ext cx="6577924" cy="1384903"/>
          </a:xfrm>
          <a:prstGeom prst="rect">
            <a:avLst/>
          </a:prstGeom>
        </p:spPr>
        <p:txBody>
          <a:bodyPr lIns="0" tIns="0" rIns="0" bIns="0"/>
          <a:lstStyle>
            <a:lvl1pPr algn="l" defTabSz="91440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931" b="1" kern="1200" spc="-8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소셜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IoT(SIoT)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개념과 핵심 구성 요소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소셜 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IoT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주요 기술과 기능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및 도구</a:t>
            </a: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Lysis, ThinkSpeak, MATLAB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"/>
            </a:pPr>
            <a:r>
              <a:rPr lang="en-US" altLang="ko-KR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800" kern="0" spc="0" dirty="0">
                <a:solidFill>
                  <a:schemeClr val="bg1">
                    <a:lumMod val="8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와의 연계 및 데이터 활용성 강화</a:t>
            </a:r>
            <a:endParaRPr lang="ko-KR" altLang="en-US" sz="1800" kern="0" spc="0" dirty="0">
              <a:solidFill>
                <a:schemeClr val="bg1">
                  <a:lumMod val="85000"/>
                </a:schemeClr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7426676"/>
      </p:ext>
    </p:extLst>
  </p:cSld>
  <p:clrMapOvr>
    <a:masterClrMapping/>
  </p:clrMapOvr>
</p:sld>
</file>

<file path=ppt/theme/theme1.xml><?xml version="1.0" encoding="utf-8"?>
<a:theme xmlns:a="http://schemas.openxmlformats.org/drawingml/2006/main" name="KT Color">
  <a:themeElements>
    <a:clrScheme name="KT Color">
      <a:dk1>
        <a:srgbClr val="000000"/>
      </a:dk1>
      <a:lt1>
        <a:sysClr val="window" lastClr="FFFFFF"/>
      </a:lt1>
      <a:dk2>
        <a:srgbClr val="4C4C4E"/>
      </a:dk2>
      <a:lt2>
        <a:srgbClr val="D1D2D4"/>
      </a:lt2>
      <a:accent1>
        <a:srgbClr val="FF0000"/>
      </a:accent1>
      <a:accent2>
        <a:srgbClr val="F27173"/>
      </a:accent2>
      <a:accent3>
        <a:srgbClr val="B01116"/>
      </a:accent3>
      <a:accent4>
        <a:srgbClr val="00C0AA"/>
      </a:accent4>
      <a:accent5>
        <a:srgbClr val="69D7C3"/>
      </a:accent5>
      <a:accent6>
        <a:srgbClr val="009687"/>
      </a:accent6>
      <a:hlink>
        <a:srgbClr val="FF0000"/>
      </a:hlink>
      <a:folHlink>
        <a:srgbClr val="B01116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ct val="130000"/>
          </a:lnSpc>
          <a:defRPr sz="900" spc="-6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T Color" id="{E09EF5AF-FD31-40E1-AC7F-168F1589155B}" vid="{0C9CC309-72AC-43B4-B446-C0A338E03B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</TotalTime>
  <Words>245</Words>
  <Application>Microsoft Office PowerPoint</Application>
  <PresentationFormat>와이드스크린</PresentationFormat>
  <Paragraphs>46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AppleGothic</vt:lpstr>
      <vt:lpstr>나눔고딕 ExtraBold</vt:lpstr>
      <vt:lpstr>맑은 고딕</vt:lpstr>
      <vt:lpstr>함초롬바탕</vt:lpstr>
      <vt:lpstr>Arial</vt:lpstr>
      <vt:lpstr>Wingdings</vt:lpstr>
      <vt:lpstr>KT Color</vt:lpstr>
      <vt:lpstr>본 (교육콘텐츠)는 교육부와 한국연구재단의 지원을 받아 제작하였으며,  저작권은 사물인터넷혁신융합대학사업단에 있습니다.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Seongbok</dc:creator>
  <cp:lastModifiedBy>Baik Seongbok</cp:lastModifiedBy>
  <cp:revision>170</cp:revision>
  <cp:lastPrinted>2021-08-24T04:55:30Z</cp:lastPrinted>
  <dcterms:created xsi:type="dcterms:W3CDTF">2018-01-19T09:18:02Z</dcterms:created>
  <dcterms:modified xsi:type="dcterms:W3CDTF">2025-02-11T05:14:50Z</dcterms:modified>
</cp:coreProperties>
</file>